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0" r:id="rId4"/>
    <p:sldId id="261" r:id="rId5"/>
    <p:sldId id="266" r:id="rId6"/>
    <p:sldId id="257" r:id="rId7"/>
    <p:sldId id="270" r:id="rId8"/>
    <p:sldId id="262" r:id="rId9"/>
    <p:sldId id="268" r:id="rId10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2" d="100"/>
          <a:sy n="152" d="100"/>
        </p:scale>
        <p:origin x="2060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8B52D-B676-4A85-B3DB-CC952E083482}" type="datetimeFigureOut">
              <a:rPr lang="zh-CN" altLang="en-US" smtClean="0"/>
              <a:t>2025/10/5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910CD-5FB5-4CC1-B654-284FEC4DED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0544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8B52D-B676-4A85-B3DB-CC952E083482}" type="datetimeFigureOut">
              <a:rPr lang="zh-CN" altLang="en-US" smtClean="0"/>
              <a:t>2025/10/5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910CD-5FB5-4CC1-B654-284FEC4DED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24546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8B52D-B676-4A85-B3DB-CC952E083482}" type="datetimeFigureOut">
              <a:rPr lang="zh-CN" altLang="en-US" smtClean="0"/>
              <a:t>2025/10/5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910CD-5FB5-4CC1-B654-284FEC4DED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80660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8B52D-B676-4A85-B3DB-CC952E083482}" type="datetimeFigureOut">
              <a:rPr lang="zh-CN" altLang="en-US" smtClean="0"/>
              <a:t>2025/10/5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910CD-5FB5-4CC1-B654-284FEC4DED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33439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8B52D-B676-4A85-B3DB-CC952E083482}" type="datetimeFigureOut">
              <a:rPr lang="zh-CN" altLang="en-US" smtClean="0"/>
              <a:t>2025/10/5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910CD-5FB5-4CC1-B654-284FEC4DED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10252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8B52D-B676-4A85-B3DB-CC952E083482}" type="datetimeFigureOut">
              <a:rPr lang="zh-CN" altLang="en-US" smtClean="0"/>
              <a:t>2025/10/5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910CD-5FB5-4CC1-B654-284FEC4DED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49660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8B52D-B676-4A85-B3DB-CC952E083482}" type="datetimeFigureOut">
              <a:rPr lang="zh-CN" altLang="en-US" smtClean="0"/>
              <a:t>2025/10/5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910CD-5FB5-4CC1-B654-284FEC4DED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99323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8B52D-B676-4A85-B3DB-CC952E083482}" type="datetimeFigureOut">
              <a:rPr lang="zh-CN" altLang="en-US" smtClean="0"/>
              <a:t>2025/10/5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910CD-5FB5-4CC1-B654-284FEC4DED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00494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8B52D-B676-4A85-B3DB-CC952E083482}" type="datetimeFigureOut">
              <a:rPr lang="zh-CN" altLang="en-US" smtClean="0"/>
              <a:t>2025/10/5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910CD-5FB5-4CC1-B654-284FEC4DED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7253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8B52D-B676-4A85-B3DB-CC952E083482}" type="datetimeFigureOut">
              <a:rPr lang="zh-CN" altLang="en-US" smtClean="0"/>
              <a:t>2025/10/5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910CD-5FB5-4CC1-B654-284FEC4DED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62321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8B52D-B676-4A85-B3DB-CC952E083482}" type="datetimeFigureOut">
              <a:rPr lang="zh-CN" altLang="en-US" smtClean="0"/>
              <a:t>2025/10/5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910CD-5FB5-4CC1-B654-284FEC4DED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3733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A8B52D-B676-4A85-B3DB-CC952E083482}" type="datetimeFigureOut">
              <a:rPr lang="zh-CN" altLang="en-US" smtClean="0"/>
              <a:t>2025/10/5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4910CD-5FB5-4CC1-B654-284FEC4DED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0115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319753" y="2386454"/>
            <a:ext cx="5118185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800" dirty="0"/>
              <a:t>实验仪一</a:t>
            </a:r>
            <a:endParaRPr lang="en-US" altLang="zh-CN" sz="2800" dirty="0"/>
          </a:p>
          <a:p>
            <a:pPr algn="ctr"/>
            <a:endParaRPr lang="en-US" altLang="zh-CN" sz="2800" dirty="0"/>
          </a:p>
          <a:p>
            <a:pPr algn="ctr"/>
            <a:r>
              <a:rPr lang="zh-CN" altLang="en-US" sz="2800" dirty="0"/>
              <a:t>长春长城教学仪器</a:t>
            </a:r>
            <a:endParaRPr lang="en-US" altLang="zh-CN" sz="2800" dirty="0"/>
          </a:p>
          <a:p>
            <a:pPr algn="ctr"/>
            <a:r>
              <a:rPr lang="en-US" altLang="zh-CN" sz="2800" dirty="0"/>
              <a:t>YMC-2</a:t>
            </a:r>
            <a:r>
              <a:rPr lang="zh-CN" altLang="en-US" sz="2800" dirty="0"/>
              <a:t>型</a:t>
            </a:r>
          </a:p>
        </p:txBody>
      </p:sp>
    </p:spTree>
    <p:extLst>
      <p:ext uri="{BB962C8B-B14F-4D97-AF65-F5344CB8AC3E}">
        <p14:creationId xmlns:p14="http://schemas.microsoft.com/office/powerpoint/2010/main" val="9971933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4373" y="6608"/>
            <a:ext cx="4899878" cy="6535725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206960" y="177165"/>
            <a:ext cx="183049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</a:rPr>
              <a:t>设备照片</a:t>
            </a:r>
            <a:endParaRPr lang="en-US" altLang="zh-CN" sz="2800" dirty="0">
              <a:solidFill>
                <a:srgbClr val="FF0000"/>
              </a:solidFill>
            </a:endParaRPr>
          </a:p>
          <a:p>
            <a:r>
              <a:rPr lang="en-US" altLang="zh-CN" sz="2800" dirty="0"/>
              <a:t>YMC-2</a:t>
            </a:r>
            <a:r>
              <a:rPr lang="zh-CN" altLang="en-US" sz="2800" dirty="0"/>
              <a:t>型</a:t>
            </a:r>
          </a:p>
        </p:txBody>
      </p:sp>
      <p:sp>
        <p:nvSpPr>
          <p:cNvPr id="6" name="线形标注 2 5"/>
          <p:cNvSpPr/>
          <p:nvPr/>
        </p:nvSpPr>
        <p:spPr>
          <a:xfrm>
            <a:off x="4884984" y="2098824"/>
            <a:ext cx="374350" cy="533911"/>
          </a:xfrm>
          <a:prstGeom prst="borderCallout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立柱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576870" y="5384479"/>
            <a:ext cx="1239656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工作台</a:t>
            </a:r>
            <a:endParaRPr lang="en-US" altLang="zh-CN" b="1" dirty="0"/>
          </a:p>
          <a:p>
            <a:r>
              <a:rPr lang="zh-CN" altLang="en-US" sz="1100" dirty="0"/>
              <a:t>检查水平，需要工具水平仪</a:t>
            </a:r>
            <a:r>
              <a:rPr lang="en-US" altLang="zh-CN" sz="1100" dirty="0"/>
              <a:t>/</a:t>
            </a:r>
            <a:r>
              <a:rPr lang="zh-CN" altLang="en-US" sz="1100" dirty="0"/>
              <a:t>尺，可调节支撑脚（底角）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2674000" y="6229877"/>
            <a:ext cx="13930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可调支撑脚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5674950" y="4493131"/>
            <a:ext cx="13930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显示器</a:t>
            </a:r>
          </a:p>
        </p:txBody>
      </p:sp>
      <p:sp>
        <p:nvSpPr>
          <p:cNvPr id="13" name="线形标注 1 12"/>
          <p:cNvSpPr/>
          <p:nvPr/>
        </p:nvSpPr>
        <p:spPr>
          <a:xfrm>
            <a:off x="6228966" y="5409727"/>
            <a:ext cx="601417" cy="584047"/>
          </a:xfrm>
          <a:prstGeom prst="borderCallout1">
            <a:avLst>
              <a:gd name="adj1" fmla="val -3977"/>
              <a:gd name="adj2" fmla="val 32483"/>
              <a:gd name="adj3" fmla="val -31810"/>
              <a:gd name="adj4" fmla="val 22892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开关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446388" y="4574187"/>
            <a:ext cx="175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b="1" dirty="0"/>
              <a:t>上：三维调节台</a:t>
            </a:r>
            <a:endParaRPr lang="en-US" altLang="zh-CN" sz="1100" b="1" dirty="0"/>
          </a:p>
          <a:p>
            <a:r>
              <a:rPr lang="zh-CN" altLang="en-US" sz="1100" b="1" dirty="0"/>
              <a:t>下：磁性表座</a:t>
            </a:r>
            <a:r>
              <a:rPr lang="zh-CN" altLang="en-US" sz="1100" dirty="0"/>
              <a:t>（不移动）</a:t>
            </a:r>
          </a:p>
        </p:txBody>
      </p:sp>
      <p:cxnSp>
        <p:nvCxnSpPr>
          <p:cNvPr id="16" name="直接箭头连接符 15"/>
          <p:cNvCxnSpPr/>
          <p:nvPr/>
        </p:nvCxnSpPr>
        <p:spPr>
          <a:xfrm>
            <a:off x="1577187" y="4782217"/>
            <a:ext cx="2430217" cy="4955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651026" y="3358713"/>
            <a:ext cx="139307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b="1" dirty="0"/>
              <a:t>CCD</a:t>
            </a:r>
            <a:r>
              <a:rPr lang="zh-CN" altLang="en-US" sz="1100" b="1" dirty="0"/>
              <a:t>显微镜</a:t>
            </a:r>
            <a:endParaRPr lang="en-US" altLang="zh-CN" sz="1100" b="1" dirty="0"/>
          </a:p>
          <a:p>
            <a:r>
              <a:rPr lang="zh-CN" altLang="en-US" sz="1100" dirty="0"/>
              <a:t>需调节</a:t>
            </a:r>
          </a:p>
        </p:txBody>
      </p:sp>
      <p:cxnSp>
        <p:nvCxnSpPr>
          <p:cNvPr id="19" name="直接箭头连接符 18"/>
          <p:cNvCxnSpPr/>
          <p:nvPr/>
        </p:nvCxnSpPr>
        <p:spPr>
          <a:xfrm>
            <a:off x="1458891" y="2339858"/>
            <a:ext cx="2769442" cy="2460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831742" y="2075590"/>
            <a:ext cx="139307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b="1" dirty="0"/>
              <a:t>金属丝</a:t>
            </a:r>
            <a:endParaRPr lang="en-US" altLang="zh-CN" sz="1100" b="1" dirty="0"/>
          </a:p>
          <a:p>
            <a:r>
              <a:rPr lang="zh-CN" altLang="en-US" sz="1100" dirty="0"/>
              <a:t>损坏需更换</a:t>
            </a:r>
          </a:p>
        </p:txBody>
      </p:sp>
      <p:cxnSp>
        <p:nvCxnSpPr>
          <p:cNvPr id="24" name="直接箭头连接符 23"/>
          <p:cNvCxnSpPr/>
          <p:nvPr/>
        </p:nvCxnSpPr>
        <p:spPr>
          <a:xfrm>
            <a:off x="1447307" y="3517986"/>
            <a:ext cx="2431222" cy="6794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/>
          <p:nvPr/>
        </p:nvCxnSpPr>
        <p:spPr>
          <a:xfrm>
            <a:off x="1576488" y="4725341"/>
            <a:ext cx="2533549" cy="1542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/>
          <p:nvPr/>
        </p:nvCxnSpPr>
        <p:spPr>
          <a:xfrm>
            <a:off x="3036433" y="4834684"/>
            <a:ext cx="901192" cy="2782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/>
          <p:cNvCxnSpPr/>
          <p:nvPr/>
        </p:nvCxnSpPr>
        <p:spPr>
          <a:xfrm>
            <a:off x="3154192" y="4834684"/>
            <a:ext cx="964249" cy="3251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/>
          <p:cNvSpPr txBox="1"/>
          <p:nvPr/>
        </p:nvSpPr>
        <p:spPr>
          <a:xfrm>
            <a:off x="750767" y="2909055"/>
            <a:ext cx="139307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b="1" dirty="0"/>
              <a:t>数字分划板</a:t>
            </a:r>
            <a:endParaRPr lang="en-US" altLang="zh-CN" sz="1100" b="1" dirty="0"/>
          </a:p>
          <a:p>
            <a:r>
              <a:rPr lang="zh-CN" altLang="en-US" sz="1100" dirty="0"/>
              <a:t>安装于下夹头</a:t>
            </a:r>
          </a:p>
        </p:txBody>
      </p:sp>
      <p:cxnSp>
        <p:nvCxnSpPr>
          <p:cNvPr id="32" name="直接箭头连接符 31"/>
          <p:cNvCxnSpPr/>
          <p:nvPr/>
        </p:nvCxnSpPr>
        <p:spPr>
          <a:xfrm>
            <a:off x="1447307" y="3152599"/>
            <a:ext cx="2891835" cy="7008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34"/>
          <p:cNvSpPr txBox="1"/>
          <p:nvPr/>
        </p:nvSpPr>
        <p:spPr>
          <a:xfrm>
            <a:off x="7585737" y="468227"/>
            <a:ext cx="139307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b="1" dirty="0"/>
              <a:t>上夹头（金属丝上端固定）</a:t>
            </a:r>
            <a:endParaRPr lang="en-US" altLang="zh-CN" sz="1100" b="1" dirty="0"/>
          </a:p>
          <a:p>
            <a:r>
              <a:rPr lang="zh-CN" altLang="en-US" sz="1100" dirty="0"/>
              <a:t>拆卸需要扳手</a:t>
            </a:r>
          </a:p>
        </p:txBody>
      </p:sp>
      <p:cxnSp>
        <p:nvCxnSpPr>
          <p:cNvPr id="36" name="直接箭头连接符 35"/>
          <p:cNvCxnSpPr>
            <a:stCxn id="35" idx="1"/>
          </p:cNvCxnSpPr>
          <p:nvPr/>
        </p:nvCxnSpPr>
        <p:spPr>
          <a:xfrm flipH="1">
            <a:off x="4277429" y="768309"/>
            <a:ext cx="3308308" cy="1308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/>
          <p:cNvSpPr txBox="1"/>
          <p:nvPr/>
        </p:nvSpPr>
        <p:spPr>
          <a:xfrm>
            <a:off x="7585736" y="3881767"/>
            <a:ext cx="139307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b="1" dirty="0"/>
              <a:t>下夹头（金属丝下端固定）</a:t>
            </a:r>
            <a:endParaRPr lang="en-US" altLang="zh-CN" sz="1100" b="1" dirty="0"/>
          </a:p>
          <a:p>
            <a:r>
              <a:rPr lang="zh-CN" altLang="en-US" sz="1100" dirty="0"/>
              <a:t>拆卸需要扳手</a:t>
            </a:r>
            <a:endParaRPr lang="en-US" altLang="zh-CN" sz="1100" dirty="0"/>
          </a:p>
          <a:p>
            <a:r>
              <a:rPr lang="zh-CN" altLang="en-US" sz="1100" dirty="0"/>
              <a:t>（下页图）</a:t>
            </a:r>
          </a:p>
        </p:txBody>
      </p:sp>
      <p:cxnSp>
        <p:nvCxnSpPr>
          <p:cNvPr id="40" name="直接箭头连接符 39"/>
          <p:cNvCxnSpPr>
            <a:stCxn id="42" idx="1"/>
          </p:cNvCxnSpPr>
          <p:nvPr/>
        </p:nvCxnSpPr>
        <p:spPr>
          <a:xfrm flipH="1" flipV="1">
            <a:off x="4386909" y="4772960"/>
            <a:ext cx="3198158" cy="2901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矩形 41"/>
          <p:cNvSpPr/>
          <p:nvPr/>
        </p:nvSpPr>
        <p:spPr>
          <a:xfrm>
            <a:off x="7585067" y="4932317"/>
            <a:ext cx="1595309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11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砝码支架</a:t>
            </a:r>
            <a:r>
              <a:rPr lang="zh-CN" altLang="en-US" sz="11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（砝码托盘）</a:t>
            </a:r>
            <a:endParaRPr lang="zh-CN" altLang="en-US" sz="11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44" name="直接箭头连接符 43"/>
          <p:cNvCxnSpPr>
            <a:stCxn id="10" idx="3"/>
          </p:cNvCxnSpPr>
          <p:nvPr/>
        </p:nvCxnSpPr>
        <p:spPr>
          <a:xfrm flipV="1">
            <a:off x="1816526" y="5553957"/>
            <a:ext cx="1976536" cy="3537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箭头连接符 48"/>
          <p:cNvCxnSpPr>
            <a:stCxn id="39" idx="1"/>
          </p:cNvCxnSpPr>
          <p:nvPr/>
        </p:nvCxnSpPr>
        <p:spPr>
          <a:xfrm flipH="1" flipV="1">
            <a:off x="4458082" y="4069299"/>
            <a:ext cx="3127654" cy="1971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文本框 51"/>
          <p:cNvSpPr txBox="1"/>
          <p:nvPr/>
        </p:nvSpPr>
        <p:spPr>
          <a:xfrm>
            <a:off x="7585067" y="1325788"/>
            <a:ext cx="1393079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b="1" dirty="0"/>
              <a:t>下横梁</a:t>
            </a:r>
            <a:endParaRPr lang="en-US" altLang="zh-CN" sz="1100" b="1" dirty="0"/>
          </a:p>
          <a:p>
            <a:r>
              <a:rPr lang="en-US" altLang="zh-CN" sz="1100" dirty="0"/>
              <a:t>1</a:t>
            </a:r>
            <a:r>
              <a:rPr lang="zh-CN" altLang="en-US" sz="1100" dirty="0"/>
              <a:t>、两侧螺丝用于固定，可松开调节上下位置。</a:t>
            </a:r>
            <a:endParaRPr lang="en-US" altLang="zh-CN" sz="1100" dirty="0"/>
          </a:p>
          <a:p>
            <a:r>
              <a:rPr lang="en-US" altLang="zh-CN" sz="1100" dirty="0"/>
              <a:t>2</a:t>
            </a:r>
            <a:r>
              <a:rPr lang="zh-CN" altLang="en-US" sz="1100" dirty="0"/>
              <a:t>、一字螺刀调整中部的顶丝可使下夹头固定或无摩擦的上下自由移动。</a:t>
            </a:r>
            <a:endParaRPr lang="en-US" altLang="zh-CN" sz="1100" dirty="0"/>
          </a:p>
          <a:p>
            <a:r>
              <a:rPr lang="en-US" altLang="zh-CN" sz="1100" dirty="0"/>
              <a:t>3</a:t>
            </a:r>
            <a:r>
              <a:rPr lang="zh-CN" altLang="en-US" sz="1100" dirty="0"/>
              <a:t>、分划板处尺寸大于横梁竖孔尺寸，挤压可能造成分划板破碎，因此横梁位置需要为金属丝伸长留有余量。</a:t>
            </a:r>
          </a:p>
        </p:txBody>
      </p:sp>
      <p:cxnSp>
        <p:nvCxnSpPr>
          <p:cNvPr id="53" name="直接箭头连接符 52"/>
          <p:cNvCxnSpPr/>
          <p:nvPr/>
        </p:nvCxnSpPr>
        <p:spPr>
          <a:xfrm flipH="1">
            <a:off x="4636257" y="2506477"/>
            <a:ext cx="2918422" cy="14127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64418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034" y="584802"/>
            <a:ext cx="4031330" cy="5377208"/>
          </a:xfrm>
          <a:prstGeom prst="rect">
            <a:avLst/>
          </a:prstGeom>
        </p:spPr>
      </p:pic>
      <p:cxnSp>
        <p:nvCxnSpPr>
          <p:cNvPr id="6" name="直接箭头连接符 5"/>
          <p:cNvCxnSpPr/>
          <p:nvPr/>
        </p:nvCxnSpPr>
        <p:spPr>
          <a:xfrm flipH="1">
            <a:off x="3952173" y="3107752"/>
            <a:ext cx="2222074" cy="8751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/>
        </p:nvCxnSpPr>
        <p:spPr>
          <a:xfrm flipH="1">
            <a:off x="2019044" y="3067919"/>
            <a:ext cx="4109176" cy="10499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/>
          <p:nvPr/>
        </p:nvCxnSpPr>
        <p:spPr>
          <a:xfrm flipH="1" flipV="1">
            <a:off x="3307796" y="2945718"/>
            <a:ext cx="2820424" cy="1056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6229479" y="2814003"/>
            <a:ext cx="1393079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三维调节</a:t>
            </a:r>
            <a:endParaRPr lang="en-US" altLang="zh-CN" sz="1600" dirty="0"/>
          </a:p>
          <a:p>
            <a:r>
              <a:rPr lang="zh-CN" altLang="en-US" sz="1100" dirty="0"/>
              <a:t>（本实验中无需读数）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5498932" y="3859184"/>
            <a:ext cx="303112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/>
              <a:t>三维调节由</a:t>
            </a:r>
            <a:r>
              <a:rPr lang="en-US" altLang="zh-CN" sz="1100" dirty="0"/>
              <a:t>XY</a:t>
            </a:r>
            <a:r>
              <a:rPr lang="zh-CN" altLang="en-US" sz="1100" dirty="0"/>
              <a:t>二维平移台和高度调整器组成。</a:t>
            </a:r>
            <a:endParaRPr lang="en-US" altLang="zh-CN" sz="1100" dirty="0"/>
          </a:p>
          <a:p>
            <a:endParaRPr lang="en-US" altLang="zh-CN" sz="1100" dirty="0"/>
          </a:p>
          <a:p>
            <a:r>
              <a:rPr lang="en-US" altLang="zh-CN" sz="1100" dirty="0"/>
              <a:t>XY</a:t>
            </a:r>
            <a:r>
              <a:rPr lang="zh-CN" altLang="en-US" sz="1100" dirty="0"/>
              <a:t>移动由微分头调节，由图片可见移动控制方式为：微分头的推杆伸长时顶住滑块移动，回缩时拉簧回拽滑块，保持滑块与推杆端面接触，于是可以通过刻度读出平移距离（或位置）。</a:t>
            </a:r>
          </a:p>
        </p:txBody>
      </p:sp>
    </p:spTree>
    <p:extLst>
      <p:ext uri="{BB962C8B-B14F-4D97-AF65-F5344CB8AC3E}">
        <p14:creationId xmlns:p14="http://schemas.microsoft.com/office/powerpoint/2010/main" val="7607658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/>
        </p:nvSpPr>
        <p:spPr>
          <a:xfrm>
            <a:off x="3473493" y="220929"/>
            <a:ext cx="3007087" cy="119758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040022" y="731351"/>
            <a:ext cx="4269089" cy="5692120"/>
          </a:xfrm>
        </p:spPr>
      </p:pic>
      <p:sp>
        <p:nvSpPr>
          <p:cNvPr id="5" name="矩形 4"/>
          <p:cNvSpPr/>
          <p:nvPr/>
        </p:nvSpPr>
        <p:spPr>
          <a:xfrm>
            <a:off x="206960" y="177165"/>
            <a:ext cx="274489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</a:rPr>
              <a:t>分划板和</a:t>
            </a:r>
            <a:r>
              <a:rPr lang="en-US" altLang="zh-CN" sz="2800" dirty="0">
                <a:solidFill>
                  <a:srgbClr val="FF0000"/>
                </a:solidFill>
              </a:rPr>
              <a:t>CCD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cxnSp>
        <p:nvCxnSpPr>
          <p:cNvPr id="6" name="直接箭头连接符 5"/>
          <p:cNvCxnSpPr/>
          <p:nvPr/>
        </p:nvCxnSpPr>
        <p:spPr>
          <a:xfrm>
            <a:off x="1184424" y="2516134"/>
            <a:ext cx="968030" cy="11506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206960" y="2247429"/>
            <a:ext cx="103883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b="1" dirty="0"/>
              <a:t>数字分划板</a:t>
            </a:r>
            <a:endParaRPr lang="en-US" altLang="zh-CN" sz="1100" b="1" dirty="0"/>
          </a:p>
          <a:p>
            <a:r>
              <a:rPr lang="zh-CN" altLang="en-US" sz="1100" dirty="0"/>
              <a:t>一般无需调节，若需调节需松开</a:t>
            </a:r>
            <a:r>
              <a:rPr lang="en-US" altLang="zh-CN" sz="1100" dirty="0"/>
              <a:t>3</a:t>
            </a:r>
            <a:r>
              <a:rPr lang="zh-CN" altLang="en-US" sz="1100" dirty="0"/>
              <a:t>个螺丝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5263775" y="438775"/>
            <a:ext cx="103883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b="1" dirty="0"/>
              <a:t>CCD</a:t>
            </a:r>
          </a:p>
          <a:p>
            <a:r>
              <a:rPr lang="zh-CN" altLang="en-US" sz="1100" dirty="0"/>
              <a:t>若成像倾斜需松开螺丝调整</a:t>
            </a:r>
            <a:r>
              <a:rPr lang="en-US" altLang="zh-CN" sz="1100" dirty="0"/>
              <a:t>CCD</a:t>
            </a:r>
            <a:endParaRPr lang="zh-CN" altLang="en-US" sz="1100" dirty="0"/>
          </a:p>
        </p:txBody>
      </p:sp>
      <p:cxnSp>
        <p:nvCxnSpPr>
          <p:cNvPr id="10" name="直接箭头连接符 9"/>
          <p:cNvCxnSpPr/>
          <p:nvPr/>
        </p:nvCxnSpPr>
        <p:spPr>
          <a:xfrm>
            <a:off x="5701192" y="1147603"/>
            <a:ext cx="484015" cy="15280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/>
          <p:nvPr/>
        </p:nvCxnSpPr>
        <p:spPr>
          <a:xfrm flipH="1">
            <a:off x="5134101" y="1350121"/>
            <a:ext cx="649090" cy="13861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3537082" y="310519"/>
            <a:ext cx="103883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b="1" dirty="0"/>
              <a:t>显微镜镜头</a:t>
            </a:r>
            <a:endParaRPr lang="en-US" altLang="zh-CN" sz="1100" b="1" dirty="0"/>
          </a:p>
          <a:p>
            <a:r>
              <a:rPr lang="zh-CN" altLang="en-US" sz="1100" dirty="0"/>
              <a:t>若成像中十字线与分划板不平行，需松开螺丝旋转调整镜头。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6740025" y="438775"/>
            <a:ext cx="103883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注意两者调节的先后顺序！</a:t>
            </a:r>
          </a:p>
        </p:txBody>
      </p:sp>
    </p:spTree>
    <p:extLst>
      <p:ext uri="{BB962C8B-B14F-4D97-AF65-F5344CB8AC3E}">
        <p14:creationId xmlns:p14="http://schemas.microsoft.com/office/powerpoint/2010/main" val="12200396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8354" y="1236562"/>
            <a:ext cx="5801784" cy="4351338"/>
          </a:xfrm>
        </p:spPr>
      </p:pic>
      <p:cxnSp>
        <p:nvCxnSpPr>
          <p:cNvPr id="5" name="直接箭头连接符 4"/>
          <p:cNvCxnSpPr/>
          <p:nvPr/>
        </p:nvCxnSpPr>
        <p:spPr>
          <a:xfrm>
            <a:off x="1902443" y="2773885"/>
            <a:ext cx="1785842" cy="36208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261009" y="1908971"/>
            <a:ext cx="1942143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b="1" dirty="0"/>
              <a:t>十字叉丝</a:t>
            </a:r>
            <a:endParaRPr lang="en-US" altLang="zh-CN" sz="1100" b="1" dirty="0"/>
          </a:p>
          <a:p>
            <a:r>
              <a:rPr lang="zh-CN" altLang="en-US" sz="1100" dirty="0"/>
              <a:t>显示屏上的参考十字线是分划板位于目镜上的十字叉丝分划板的，成像在</a:t>
            </a:r>
            <a:r>
              <a:rPr lang="en-US" altLang="zh-CN" sz="1100" dirty="0"/>
              <a:t>CCD</a:t>
            </a:r>
            <a:r>
              <a:rPr lang="zh-CN" altLang="en-US" sz="1100" dirty="0"/>
              <a:t>、显示在显示屏上</a:t>
            </a:r>
            <a:endParaRPr lang="en-US" altLang="zh-CN" sz="1100" dirty="0"/>
          </a:p>
          <a:p>
            <a:r>
              <a:rPr lang="zh-CN" altLang="en-US" sz="1100" dirty="0"/>
              <a:t>（这点与</a:t>
            </a:r>
            <a:r>
              <a:rPr lang="en-US" altLang="zh-CN" sz="1100" dirty="0"/>
              <a:t>LB-YM1</a:t>
            </a:r>
            <a:r>
              <a:rPr lang="zh-CN" altLang="en-US" sz="1100" dirty="0"/>
              <a:t>不同）</a:t>
            </a:r>
            <a:endParaRPr lang="en-US" altLang="zh-CN" sz="1100" dirty="0"/>
          </a:p>
          <a:p>
            <a:endParaRPr lang="zh-CN" altLang="en-US" sz="1100" dirty="0"/>
          </a:p>
        </p:txBody>
      </p:sp>
      <p:sp>
        <p:nvSpPr>
          <p:cNvPr id="10" name="矩形 9"/>
          <p:cNvSpPr/>
          <p:nvPr/>
        </p:nvSpPr>
        <p:spPr>
          <a:xfrm>
            <a:off x="206960" y="177165"/>
            <a:ext cx="274489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</a:rPr>
              <a:t>读数参考线</a:t>
            </a:r>
          </a:p>
        </p:txBody>
      </p:sp>
    </p:spTree>
    <p:extLst>
      <p:ext uri="{BB962C8B-B14F-4D97-AF65-F5344CB8AC3E}">
        <p14:creationId xmlns:p14="http://schemas.microsoft.com/office/powerpoint/2010/main" val="7936506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972" y="1586287"/>
            <a:ext cx="3262228" cy="4351338"/>
          </a:xfrm>
        </p:spPr>
      </p:pic>
      <p:sp>
        <p:nvSpPr>
          <p:cNvPr id="8" name="文本框 7"/>
          <p:cNvSpPr txBox="1"/>
          <p:nvPr/>
        </p:nvSpPr>
        <p:spPr>
          <a:xfrm>
            <a:off x="346972" y="1238172"/>
            <a:ext cx="13930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/>
              <a:t>下夹头细节图</a:t>
            </a: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3499" y="349441"/>
            <a:ext cx="4779792" cy="249320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4229" y="2842646"/>
            <a:ext cx="3806300" cy="3772466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4108899" y="3890440"/>
            <a:ext cx="139307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/>
              <a:t>下夹头</a:t>
            </a:r>
            <a:endParaRPr lang="en-US" altLang="zh-CN" sz="1100" dirty="0"/>
          </a:p>
          <a:p>
            <a:endParaRPr lang="zh-CN" altLang="en-US" sz="1100" dirty="0"/>
          </a:p>
        </p:txBody>
      </p:sp>
      <p:sp>
        <p:nvSpPr>
          <p:cNvPr id="15" name="文本框 14"/>
          <p:cNvSpPr txBox="1"/>
          <p:nvPr/>
        </p:nvSpPr>
        <p:spPr>
          <a:xfrm>
            <a:off x="4280733" y="6007675"/>
            <a:ext cx="13930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/>
              <a:t>上夹头</a:t>
            </a:r>
          </a:p>
        </p:txBody>
      </p:sp>
      <p:sp>
        <p:nvSpPr>
          <p:cNvPr id="16" name="矩形 15"/>
          <p:cNvSpPr/>
          <p:nvPr/>
        </p:nvSpPr>
        <p:spPr>
          <a:xfrm>
            <a:off x="206960" y="177165"/>
            <a:ext cx="328494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</a:rPr>
              <a:t>钢丝固定及更换法</a:t>
            </a:r>
            <a:endParaRPr lang="en-US" altLang="zh-CN" sz="2800" dirty="0">
              <a:solidFill>
                <a:srgbClr val="FF0000"/>
              </a:solidFill>
            </a:endParaRPr>
          </a:p>
          <a:p>
            <a:r>
              <a:rPr lang="zh-CN" altLang="en-US" dirty="0">
                <a:solidFill>
                  <a:srgbClr val="FF0000"/>
                </a:solidFill>
              </a:rPr>
              <a:t>（需要更换时）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7959576" y="3559410"/>
            <a:ext cx="118442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/>
              <a:t>此图上下颠倒了</a:t>
            </a:r>
            <a:r>
              <a:rPr lang="en-US" altLang="zh-CN" sz="1100" dirty="0"/>
              <a:t>180°</a:t>
            </a:r>
            <a:endParaRPr lang="zh-CN" altLang="en-US" sz="1100" dirty="0"/>
          </a:p>
        </p:txBody>
      </p:sp>
      <p:sp>
        <p:nvSpPr>
          <p:cNvPr id="10" name="文本框 9"/>
          <p:cNvSpPr txBox="1"/>
          <p:nvPr/>
        </p:nvSpPr>
        <p:spPr>
          <a:xfrm>
            <a:off x="2350079" y="1982223"/>
            <a:ext cx="118442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/>
              <a:t>此处应为金属丝伸长留有余量</a:t>
            </a:r>
          </a:p>
        </p:txBody>
      </p:sp>
      <p:cxnSp>
        <p:nvCxnSpPr>
          <p:cNvPr id="5" name="直接连接符 4"/>
          <p:cNvCxnSpPr/>
          <p:nvPr/>
        </p:nvCxnSpPr>
        <p:spPr>
          <a:xfrm flipH="1">
            <a:off x="1849431" y="2350438"/>
            <a:ext cx="574650" cy="368214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2134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629639" y="2653873"/>
            <a:ext cx="511818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3600" b="1" dirty="0"/>
              <a:t>工具</a:t>
            </a:r>
          </a:p>
        </p:txBody>
      </p:sp>
    </p:spTree>
    <p:extLst>
      <p:ext uri="{BB962C8B-B14F-4D97-AF65-F5344CB8AC3E}">
        <p14:creationId xmlns:p14="http://schemas.microsoft.com/office/powerpoint/2010/main" val="24196462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166" t="28546" r="9314" b="29396"/>
          <a:stretch/>
        </p:blipFill>
        <p:spPr>
          <a:xfrm>
            <a:off x="1345720" y="873581"/>
            <a:ext cx="2213110" cy="1985042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798748" y="705746"/>
            <a:ext cx="526297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水平仪是用来检测水平的工具</a:t>
            </a:r>
            <a:endParaRPr lang="en-US" altLang="zh-CN" dirty="0"/>
          </a:p>
          <a:p>
            <a:r>
              <a:rPr lang="zh-CN" altLang="en-US" dirty="0"/>
              <a:t>它的上端面是曲面，气泡将移动到空间的最高处。</a:t>
            </a:r>
            <a:endParaRPr lang="en-US" altLang="zh-CN" dirty="0"/>
          </a:p>
          <a:p>
            <a:r>
              <a:rPr lang="zh-CN" altLang="en-US" dirty="0"/>
              <a:t>当底面水平时，气泡边缘应与指示圆圈呈同心圆。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思考：气泡偏右，是工作台哪边高了？</a:t>
            </a:r>
          </a:p>
        </p:txBody>
      </p:sp>
      <p:sp>
        <p:nvSpPr>
          <p:cNvPr id="6" name="矩形 5"/>
          <p:cNvSpPr/>
          <p:nvPr/>
        </p:nvSpPr>
        <p:spPr>
          <a:xfrm>
            <a:off x="334462" y="258308"/>
            <a:ext cx="4572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</a:rPr>
              <a:t>水平仪</a:t>
            </a:r>
          </a:p>
        </p:txBody>
      </p:sp>
      <p:pic>
        <p:nvPicPr>
          <p:cNvPr id="7" name="内容占位符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099679" y="2912437"/>
            <a:ext cx="3262228" cy="4351338"/>
          </a:xfrm>
        </p:spPr>
      </p:pic>
      <p:sp>
        <p:nvSpPr>
          <p:cNvPr id="8" name="文本框 7"/>
          <p:cNvSpPr txBox="1"/>
          <p:nvPr/>
        </p:nvSpPr>
        <p:spPr>
          <a:xfrm>
            <a:off x="5541499" y="3679252"/>
            <a:ext cx="284752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</a:t>
            </a:r>
            <a:r>
              <a:rPr lang="zh-CN" altLang="en-US" dirty="0"/>
              <a:t>、螺旋测微器使用完毕后测量面应留有空隙。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、隔段时间游标卡尺、螺旋测微器应当上油防锈。左图测微器已生锈。</a:t>
            </a:r>
          </a:p>
        </p:txBody>
      </p:sp>
      <p:cxnSp>
        <p:nvCxnSpPr>
          <p:cNvPr id="9" name="直接箭头连接符 8"/>
          <p:cNvCxnSpPr/>
          <p:nvPr/>
        </p:nvCxnSpPr>
        <p:spPr>
          <a:xfrm flipH="1">
            <a:off x="2798299" y="4044804"/>
            <a:ext cx="2743200" cy="785525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/>
        </p:nvCxnSpPr>
        <p:spPr>
          <a:xfrm flipH="1" flipV="1">
            <a:off x="2976270" y="4922382"/>
            <a:ext cx="2565229" cy="368222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334462" y="2865909"/>
            <a:ext cx="4572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</a:rPr>
              <a:t>卷尺、螺旋测微器（千分尺）</a:t>
            </a:r>
          </a:p>
        </p:txBody>
      </p:sp>
    </p:spTree>
    <p:extLst>
      <p:ext uri="{BB962C8B-B14F-4D97-AF65-F5344CB8AC3E}">
        <p14:creationId xmlns:p14="http://schemas.microsoft.com/office/powerpoint/2010/main" val="34919395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334462" y="258308"/>
            <a:ext cx="4572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</a:rPr>
              <a:t>十字改锥</a:t>
            </a:r>
          </a:p>
        </p:txBody>
      </p:sp>
      <p:sp>
        <p:nvSpPr>
          <p:cNvPr id="10" name="矩形 9"/>
          <p:cNvSpPr/>
          <p:nvPr/>
        </p:nvSpPr>
        <p:spPr>
          <a:xfrm>
            <a:off x="334462" y="3070520"/>
            <a:ext cx="4572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</a:rPr>
              <a:t>卡环扳手</a:t>
            </a: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060" y="3593740"/>
            <a:ext cx="2758835" cy="275883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 rotWithShape="1">
          <a:blip r:embed="rId3"/>
          <a:srcRect t="17647"/>
          <a:stretch/>
        </p:blipFill>
        <p:spPr>
          <a:xfrm>
            <a:off x="6875818" y="2834674"/>
            <a:ext cx="1881396" cy="1703603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6656609" y="4640413"/>
            <a:ext cx="23636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用于拆卸和调节卡环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1121434" y="6352575"/>
            <a:ext cx="20444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固定规格</a:t>
            </a: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4"/>
          <a:srcRect r="2737"/>
          <a:stretch/>
        </p:blipFill>
        <p:spPr>
          <a:xfrm>
            <a:off x="3371219" y="3686476"/>
            <a:ext cx="2986449" cy="1907875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4201064" y="6352575"/>
            <a:ext cx="20444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可调式</a:t>
            </a: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2366" y="4928569"/>
            <a:ext cx="2388301" cy="1608672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6647029" y="6352575"/>
            <a:ext cx="23636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替用品：卡簧钳</a:t>
            </a: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 rotWithShape="1">
          <a:blip r:embed="rId6"/>
          <a:srcRect t="19810" r="8626"/>
          <a:stretch/>
        </p:blipFill>
        <p:spPr>
          <a:xfrm>
            <a:off x="2284032" y="634239"/>
            <a:ext cx="1917032" cy="1678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9141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779</TotalTime>
  <Words>492</Words>
  <Application>Microsoft Office PowerPoint</Application>
  <PresentationFormat>全屏显示(4:3)</PresentationFormat>
  <Paragraphs>72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5" baseType="lpstr">
      <vt:lpstr>等线</vt:lpstr>
      <vt:lpstr>等线 Light</vt:lpstr>
      <vt:lpstr>黑体</vt:lpstr>
      <vt:lpstr>华文楷体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china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张海龙</dc:creator>
  <cp:lastModifiedBy>Halo John</cp:lastModifiedBy>
  <cp:revision>50</cp:revision>
  <dcterms:created xsi:type="dcterms:W3CDTF">2022-08-26T12:52:55Z</dcterms:created>
  <dcterms:modified xsi:type="dcterms:W3CDTF">2025-10-05T01:44:08Z</dcterms:modified>
</cp:coreProperties>
</file>